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56fe8059374e3f" /><Relationship Type="http://schemas.openxmlformats.org/officeDocument/2006/relationships/extended-properties" Target="/docProps/app.xml" Id="R60514229795d4201" /><Relationship Type="http://schemas.openxmlformats.org/officeDocument/2006/relationships/officeDocument" Target="/ppt/presentation.xml" Id="R9c7b8efdd9c841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dfbd69d995401a"/>
  </p:sldMasterIdLst>
  <p:notesMasterIdLst>
    <p:notesMasterId xmlns:r="http://schemas.openxmlformats.org/officeDocument/2006/relationships" r:id="Raa605884a6214ef8"/>
  </p:notesMasterIdLst>
  <p:sldIdLst>
    <p:sldId xmlns:r="http://schemas.openxmlformats.org/officeDocument/2006/relationships" id="256" r:id="R242f37baf1f242b9"/>
    <p:sldId xmlns:r="http://schemas.openxmlformats.org/officeDocument/2006/relationships" id="257" r:id="R73aa96ab1d104fe6"/>
    <p:sldId xmlns:r="http://schemas.openxmlformats.org/officeDocument/2006/relationships" id="258" r:id="R8a24e487a5384841"/>
    <p:sldId xmlns:r="http://schemas.openxmlformats.org/officeDocument/2006/relationships" id="259" r:id="R247c8aaae8df4148"/>
    <p:sldId xmlns:r="http://schemas.openxmlformats.org/officeDocument/2006/relationships" id="260" r:id="Rc51b93edcc2d40f8"/>
    <p:sldId xmlns:r="http://schemas.openxmlformats.org/officeDocument/2006/relationships" id="261" r:id="R05518859791545a8"/>
    <p:sldId xmlns:r="http://schemas.openxmlformats.org/officeDocument/2006/relationships" id="262" r:id="Rdcb137dd10544a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955b4cd905454b" /><Relationship Type="http://schemas.openxmlformats.org/officeDocument/2006/relationships/slideMaster" Target="/ppt/slideMasters/slideMaster1.xml" Id="Raadfbd69d995401a" /><Relationship Type="http://schemas.openxmlformats.org/officeDocument/2006/relationships/notesMaster" Target="/ppt/notesMasters/notesMaster1.xml" Id="Raa605884a6214ef8" /><Relationship Type="http://schemas.openxmlformats.org/officeDocument/2006/relationships/presProps" Target="/ppt/presProps.xml" Id="Rfb0d1aa46f324aad" /><Relationship Type="http://schemas.openxmlformats.org/officeDocument/2006/relationships/tableStyles" Target="/ppt/tableStyles.xml" Id="R6d089ae109724705" /><Relationship Type="http://schemas.openxmlformats.org/officeDocument/2006/relationships/slide" Target="/ppt/slides/slide1.xml" Id="R242f37baf1f242b9" /><Relationship Type="http://schemas.openxmlformats.org/officeDocument/2006/relationships/slide" Target="/ppt/slides/slide2.xml" Id="R73aa96ab1d104fe6" /><Relationship Type="http://schemas.openxmlformats.org/officeDocument/2006/relationships/slide" Target="/ppt/slides/slide3.xml" Id="R8a24e487a5384841" /><Relationship Type="http://schemas.openxmlformats.org/officeDocument/2006/relationships/slide" Target="/ppt/slides/slide4.xml" Id="R247c8aaae8df4148" /><Relationship Type="http://schemas.openxmlformats.org/officeDocument/2006/relationships/slide" Target="/ppt/slides/slide5.xml" Id="Rc51b93edcc2d40f8" /><Relationship Type="http://schemas.openxmlformats.org/officeDocument/2006/relationships/slide" Target="/ppt/slides/slide6.xml" Id="R05518859791545a8" /><Relationship Type="http://schemas.openxmlformats.org/officeDocument/2006/relationships/slide" Target="/ppt/slides/slide7.xml" Id="Rdcb137dd10544a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489af2b8164e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362aecd1bb4b43" /><Relationship Type="http://schemas.openxmlformats.org/officeDocument/2006/relationships/notesMaster" Target="/ppt/notesMasters/notesMaster1.xml" Id="Rf467de22e29f4f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2ccb1f2f9a4744" /><Relationship Type="http://schemas.openxmlformats.org/officeDocument/2006/relationships/notesMaster" Target="/ppt/notesMasters/notesMaster1.xml" Id="Rd358c4bf3e6d45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e17d7a4e3141a7" /><Relationship Type="http://schemas.openxmlformats.org/officeDocument/2006/relationships/notesMaster" Target="/ppt/notesMasters/notesMaster1.xml" Id="R10c1bd68c03345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769455b2b240dd" /><Relationship Type="http://schemas.openxmlformats.org/officeDocument/2006/relationships/notesMaster" Target="/ppt/notesMasters/notesMaster1.xml" Id="Rb9add152f44e44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b85d15088e4e12" /><Relationship Type="http://schemas.openxmlformats.org/officeDocument/2006/relationships/notesMaster" Target="/ppt/notesMasters/notesMaster1.xml" Id="Rb3cbedd1b2e647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14e2e53e514772" /><Relationship Type="http://schemas.openxmlformats.org/officeDocument/2006/relationships/notesMaster" Target="/ppt/notesMasters/notesMaster1.xml" Id="Rfa46e5fc232a4f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27e4baa9c2432f" /><Relationship Type="http://schemas.openxmlformats.org/officeDocument/2006/relationships/notesMaster" Target="/ppt/notesMasters/notesMaster1.xml" Id="R6adfad1489a042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d31aacb5684e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4783a5a8684a5e" /><Relationship Type="http://schemas.openxmlformats.org/officeDocument/2006/relationships/slideLayout" Target="/ppt/slideLayouts/slideLayout1.xml" Id="Re146ec3fdab449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46ec3fdab449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0a95d0fa94a8f" /><Relationship Type="http://schemas.openxmlformats.org/officeDocument/2006/relationships/notesSlide" Target="/ppt/notesSlides/notesSlide1.xml" Id="R5513ab1bc64f4e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ca5aca59f4838" /><Relationship Type="http://schemas.openxmlformats.org/officeDocument/2006/relationships/notesSlide" Target="/ppt/notesSlides/notesSlide2.xml" Id="Rc888bbb14edb4e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9937015154d15" /><Relationship Type="http://schemas.openxmlformats.org/officeDocument/2006/relationships/notesSlide" Target="/ppt/notesSlides/notesSlide3.xml" Id="Rf2f624e008e94e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1544e6f624c5d" /><Relationship Type="http://schemas.openxmlformats.org/officeDocument/2006/relationships/notesSlide" Target="/ppt/notesSlides/notesSlide4.xml" Id="Rdfe9a3f0a5be4a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7b630b55442c9" /><Relationship Type="http://schemas.openxmlformats.org/officeDocument/2006/relationships/notesSlide" Target="/ppt/notesSlides/notesSlide5.xml" Id="R68cc6da3e87f41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ac01740f34741" /><Relationship Type="http://schemas.openxmlformats.org/officeDocument/2006/relationships/notesSlide" Target="/ppt/notesSlides/notesSlide6.xml" Id="Ra211becb4e3846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a0636600e4f7f" /><Relationship Type="http://schemas.openxmlformats.org/officeDocument/2006/relationships/notesSlide" Target="/ppt/notesSlides/notesSlide7.xml" Id="R786ca97618ff4a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887B29-FFAC-40D9-A762-65AFE04B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34B"/>
                </a:solidFill>
              </a:defRPr>
            </a:pPr>
            <a:r>
              <a:rPr sz="975" b="1">
                <a:solidFill>
                  <a:srgbClr val="B7F34B"/>
                </a:solidFill>
              </a:rPr>
              <a:t>DEALCHEF  /  ICON UNSW × LYRA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B20AE-F268-4DFC-A37E-C53082D9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BB9"/>
                </a:solidFill>
              </a:defRPr>
            </a:pPr>
            <a:r>
              <a:rPr sz="900" b="1">
                <a:solidFill>
                  <a:srgbClr val="A9BBB9"/>
                </a:solidFill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89DBD-8455-40B3-8BBE-BE606CE6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5E356-D5B7-4A14-B095-971AC746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BB9"/>
                </a:solidFill>
              </a:defRPr>
            </a:pPr>
            <a:r>
              <a:rPr sz="900" b="1">
                <a:solidFill>
                  <a:srgbClr val="A9BBB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FA1F3-7F26-4F1E-A6E6-1873C795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7A59"/>
                </a:solidFill>
              </a:defRPr>
            </a:pPr>
            <a:r>
              <a:rPr sz="1050" b="1">
                <a:solidFill>
                  <a:srgbClr val="FF7A59"/>
                </a:solidFill>
              </a:rPr>
              <a:t>A WEEKLY TIME TAX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D20C2-DF34-4FDA-9C36-12B30019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5EF"/>
                </a:solidFill>
              </a:defRPr>
            </a:pPr>
            <a:r>
              <a:rPr sz="3600" b="1">
                <a:solidFill>
                  <a:srgbClr val="F6F5EF"/>
                </a:solidFill>
              </a:rPr>
              <a:t>The grocery hunt</a:t>
            </a:r>
          </a:p>
          <a:p xmlns:a="http://schemas.openxmlformats.org/drawingml/2006/main">
            <a:pPr>
              <a:defRPr sz="3600" b="1">
                <a:solidFill>
                  <a:srgbClr val="F6F5EF"/>
                </a:solidFill>
              </a:defRPr>
            </a:pPr>
            <a:r>
              <a:rPr sz="3600" b="1">
                <a:solidFill>
                  <a:srgbClr val="F6F5EF"/>
                </a:solidFill>
              </a:rPr>
              <a:t>is scattered across tabs.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F4C94-94FC-4BF4-9E01-1F56CD65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A9BBB9"/>
                </a:solidFill>
              </a:defRPr>
            </a:pPr>
            <a:r>
              <a:rPr sz="1425">
                <a:solidFill>
                  <a:srgbClr val="A9BBB9"/>
                </a:solidFill>
              </a:rPr>
              <a:t>Finding one genuinely good deal means checking three stores,</a:t>
            </a:r>
          </a:p>
          <a:p xmlns:a="http://schemas.openxmlformats.org/drawingml/2006/main">
            <a:pPr>
              <a:defRPr sz="1425">
                <a:solidFill>
                  <a:srgbClr val="A9BBB9"/>
                </a:solidFill>
              </a:defRPr>
            </a:pPr>
            <a:r>
              <a:rPr sz="1425">
                <a:solidFill>
                  <a:srgbClr val="A9BBB9"/>
                </a:solidFill>
              </a:rPr>
              <a:t>remembering what is already in the pantry, then starting dinner planning from scratch.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8E01B-EB61-4CDF-A8DA-33CCCE46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2076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F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8FBD6-F4B0-4BE5-AB90-2527BCBC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31B"/>
                </a:solidFill>
              </a:defRPr>
            </a:pPr>
            <a:r>
              <a:rPr sz="900" b="1">
                <a:solidFill>
                  <a:srgbClr val="07131B"/>
                </a:solidFill>
              </a:rPr>
              <a:t>PERSONALIZED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8F720-CC53-44E0-966C-6E554BB2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EF"/>
                </a:solidFill>
              </a:defRPr>
            </a:pPr>
            <a:r>
              <a:rPr sz="1500" b="1">
                <a:solidFill>
                  <a:srgbClr val="F6F5EF"/>
                </a:solidFill>
              </a:rPr>
              <a:t>DealChef turns that search into one brief,</a:t>
            </a:r>
          </a:p>
          <a:p xmlns:a="http://schemas.openxmlformats.org/drawingml/2006/main">
            <a:pPr>
              <a:defRPr sz="1500" b="1">
                <a:solidFill>
                  <a:srgbClr val="F6F5EF"/>
                </a:solidFill>
              </a:defRPr>
            </a:pPr>
            <a:r>
              <a:rPr sz="1500" b="1">
                <a:solidFill>
                  <a:srgbClr val="F6F5EF"/>
                </a:solidFill>
              </a:rPr>
              <a:t>with measurable time saved at the end.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363F3-7BD5-48A9-9536-120BE1ED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43050"/>
            <a:ext cx="3771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90C17-0900-4373-9CC4-0CDCB122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859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5EF"/>
                </a:solidFill>
              </a:defRPr>
            </a:pPr>
            <a:r>
              <a:rPr sz="1350" b="1">
                <a:solidFill>
                  <a:srgbClr val="F6F5EF"/>
                </a:solidFill>
              </a:rPr>
              <a:t>Coles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BD7DB-CED7-44F6-9484-D963D3D9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431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9BBB9"/>
                </a:solidFill>
              </a:defRPr>
            </a:pPr>
            <a:r>
              <a:rPr sz="975">
                <a:solidFill>
                  <a:srgbClr val="A9BBB9"/>
                </a:solidFill>
              </a:rPr>
              <a:t>specials + price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2C203-E209-4A2A-9CA1-4D5AD8E1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764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B7F34B"/>
                </a:solidFill>
              </a:defRPr>
            </a:pPr>
            <a:r>
              <a:rPr sz="1575" b="1">
                <a:solidFill>
                  <a:srgbClr val="B7F34B"/>
                </a:solidFill>
              </a:rPr>
              <a:t>$4.50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AADFC-5101-42B2-A7FB-7FAC7847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526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A9BBB9"/>
                </a:solidFill>
              </a:defRPr>
            </a:pPr>
            <a:r>
              <a:rPr sz="975">
                <a:solidFill>
                  <a:srgbClr val="A9BBB9"/>
                </a:solidFill>
              </a:rPr>
              <a:t>was $9.00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C455D-0AEA-4338-A8E5-E7336258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38400"/>
            <a:ext cx="3771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BAA2E-7CAC-44B7-AE22-95B50BDF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812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5EF"/>
                </a:solidFill>
              </a:defRPr>
            </a:pPr>
            <a:r>
              <a:rPr sz="1350" b="1">
                <a:solidFill>
                  <a:srgbClr val="F6F5EF"/>
                </a:solidFill>
              </a:rPr>
              <a:t>Woolworths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20B7E1-7A37-4C28-8ED6-D0DF3DEA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384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9BBB9"/>
                </a:solidFill>
              </a:defRPr>
            </a:pPr>
            <a:r>
              <a:rPr sz="975">
                <a:solidFill>
                  <a:srgbClr val="A9BBB9"/>
                </a:solidFill>
              </a:rPr>
              <a:t>specials + unit price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C77BC-819E-43B6-A2E6-FC6FAA64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72E4D5"/>
                </a:solidFill>
              </a:defRPr>
            </a:pPr>
            <a:r>
              <a:rPr sz="1575" b="1">
                <a:solidFill>
                  <a:srgbClr val="72E4D5"/>
                </a:solidFill>
              </a:rPr>
              <a:t>$3.00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E8C97-8CFA-4182-8C1A-D9A4C7BB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479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A9BBB9"/>
                </a:solidFill>
              </a:defRPr>
            </a:pPr>
            <a:r>
              <a:rPr sz="975">
                <a:solidFill>
                  <a:srgbClr val="A9BBB9"/>
                </a:solidFill>
              </a:rPr>
              <a:t>was $6.00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2DB1E-EBDB-4D63-996F-59ED8709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33750"/>
            <a:ext cx="3771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BACD3-953C-47CF-A2E3-567C87E6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76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5EF"/>
                </a:solidFill>
              </a:defRPr>
            </a:pPr>
            <a:r>
              <a:rPr sz="1350" b="1">
                <a:solidFill>
                  <a:srgbClr val="F6F5EF"/>
                </a:solidFill>
              </a:rPr>
              <a:t>ALDI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C458D-043E-463E-8773-A581BEED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338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9BBB9"/>
                </a:solidFill>
              </a:defRPr>
            </a:pPr>
            <a:r>
              <a:rPr sz="975">
                <a:solidFill>
                  <a:srgbClr val="A9BBB9"/>
                </a:solidFill>
              </a:rPr>
              <a:t>catalogue + local fallback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832EEE-ECE2-4294-9C49-3634157B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67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7A59"/>
                </a:solidFill>
              </a:defRPr>
            </a:pPr>
            <a:r>
              <a:rPr sz="1575" b="1">
                <a:solidFill>
                  <a:srgbClr val="FF7A59"/>
                </a:solidFill>
              </a:rPr>
              <a:t>$2.50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557C30-426A-4299-9301-A8DE999A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433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A9BBB9"/>
                </a:solidFill>
              </a:defRPr>
            </a:pPr>
            <a:r>
              <a:rPr sz="975">
                <a:solidFill>
                  <a:srgbClr val="A9BBB9"/>
                </a:solidFill>
              </a:rPr>
              <a:t>was $5.00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0018A2-60A0-4789-83A8-ED379578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76750"/>
            <a:ext cx="37719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B7F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9566E3-8E9B-4B37-A200-1E74A785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720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7131B"/>
                </a:solidFill>
              </a:defRPr>
            </a:pPr>
            <a:r>
              <a:rPr sz="2625" b="1">
                <a:solidFill>
                  <a:srgbClr val="07131B"/>
                </a:solidFill>
              </a:rPr>
              <a:t>50%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84555C-0CA2-48EB-BAC9-7F16615B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482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31B"/>
                </a:solidFill>
              </a:defRPr>
            </a:pPr>
            <a:r>
              <a:rPr sz="1350" b="1">
                <a:solidFill>
                  <a:srgbClr val="07131B"/>
                </a:solidFill>
              </a:rPr>
              <a:t>is the boundary that</a:t>
            </a:r>
          </a:p>
          <a:p xmlns:a="http://schemas.openxmlformats.org/drawingml/2006/main">
            <a:pPr>
              <a:defRPr sz="1350" b="1">
                <a:solidFill>
                  <a:srgbClr val="07131B"/>
                </a:solidFill>
              </a:defRPr>
            </a:pPr>
            <a:r>
              <a:rPr sz="1350" b="1">
                <a:solidFill>
                  <a:srgbClr val="07131B"/>
                </a:solidFill>
              </a:rPr>
              <a:t>matters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6D1861-2013-4A93-B59F-15469185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1054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E2028"/>
                </a:solidFill>
              </a:defRPr>
            </a:pPr>
            <a:r>
              <a:rPr sz="975">
                <a:solidFill>
                  <a:srgbClr val="0E2028"/>
                </a:solidFill>
              </a:rPr>
              <a:t>verified specials only</a:t>
            </a:r>
          </a:p>
        </p:txBody>
      </p:sp>
    </p:spTree>
    <p:extLst>
      <p:ext uri="{BB962C8B-B14F-4D97-AF65-F5344CB8AC3E}">
        <p14:creationId xmlns:p14="http://schemas.microsoft.com/office/powerpoint/2010/main" val="826498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8DF9EB-D116-4C7C-9391-F362C2FA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34B"/>
                </a:solidFill>
              </a:defRPr>
            </a:pPr>
            <a:r>
              <a:rPr sz="975" b="1">
                <a:solidFill>
                  <a:srgbClr val="B7F34B"/>
                </a:solidFill>
              </a:rPr>
              <a:t>DEALCHEF  /  ICON UNSW × LYRA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3E153-C55A-4A41-9307-0D2DD87D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BB9"/>
                </a:solidFill>
              </a:defRPr>
            </a:pPr>
            <a:r>
              <a:rPr sz="900" b="1">
                <a:solidFill>
                  <a:srgbClr val="A9BBB9"/>
                </a:solidFill>
              </a:rPr>
              <a:t>THE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18D7E-C6A1-4831-A707-5CDD3492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9C3BD-65AC-4842-BB85-E3098BF8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BB9"/>
                </a:solidFill>
              </a:defRPr>
            </a:pPr>
            <a:r>
              <a:rPr sz="900" b="1">
                <a:solidFill>
                  <a:srgbClr val="A9BBB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0BE12-6120-4D0D-81C7-AD0F0AB6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6F5EF"/>
                </a:solidFill>
              </a:defRPr>
            </a:pPr>
            <a:r>
              <a:rPr sz="3000" b="1">
                <a:solidFill>
                  <a:srgbClr val="F6F5EF"/>
                </a:solidFill>
              </a:rPr>
              <a:t>One brief, answered in seconds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E4A4E-37FB-4E8C-AD15-BABCD91C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BB9"/>
                </a:solidFill>
              </a:defRPr>
            </a:pPr>
            <a:r>
              <a:rPr sz="1575">
                <a:solidFill>
                  <a:srgbClr val="A9BBB9"/>
                </a:solidFill>
              </a:rPr>
              <a:t>The app remembers the context that makes a deal useful to one person.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A9847-FCCF-4555-BBA2-28C53800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23622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A193D-C235-47E9-B24F-9D1F4BD3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F34B"/>
                </a:solidFill>
              </a:defRPr>
            </a:pPr>
            <a:r>
              <a:rPr sz="1050" b="1">
                <a:solidFill>
                  <a:srgbClr val="B7F34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9DB27-C323-4D01-B95C-5494C6B6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5EF"/>
                </a:solidFill>
              </a:defRPr>
            </a:pPr>
            <a:r>
              <a:rPr sz="1725" b="1">
                <a:solidFill>
                  <a:srgbClr val="F6F5EF"/>
                </a:solidFill>
              </a:rPr>
              <a:t>Set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12D5B-8EDD-4EDA-A393-DC994D44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BB9"/>
                </a:solidFill>
              </a:defRPr>
            </a:pPr>
            <a:r>
              <a:rPr sz="1275">
                <a:solidFill>
                  <a:srgbClr val="A9BBB9"/>
                </a:solidFill>
              </a:rPr>
              <a:t>UNSW postcode</a:t>
            </a:r>
          </a:p>
          <a:p xmlns:a="http://schemas.openxmlformats.org/drawingml/2006/main">
            <a:pPr>
              <a:defRPr sz="1275">
                <a:solidFill>
                  <a:srgbClr val="A9BBB9"/>
                </a:solidFill>
              </a:defRPr>
            </a:pPr>
            <a:r>
              <a:rPr sz="1275">
                <a:solidFill>
                  <a:srgbClr val="A9BBB9"/>
                </a:solidFill>
              </a:rPr>
              <a:t>pantry + diet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1B3DC-1F65-4897-8196-95A313DA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766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7F34B"/>
                </a:solidFill>
              </a:defRPr>
            </a:pPr>
            <a:r>
              <a:rPr sz="2100" b="1">
                <a:solidFill>
                  <a:srgbClr val="B7F34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14023-F7F7-450E-AC4D-D1AA62A9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23622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E3D43-E9FC-4B54-BDC5-982764C0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051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2E4D5"/>
                </a:solidFill>
              </a:defRPr>
            </a:pPr>
            <a:r>
              <a:rPr sz="1050" b="1">
                <a:solidFill>
                  <a:srgbClr val="72E4D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D5EA3-BA1C-4AC7-BCAF-5C2338AB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5EF"/>
                </a:solidFill>
              </a:defRPr>
            </a:pPr>
            <a:r>
              <a:rPr sz="1725" b="1">
                <a:solidFill>
                  <a:srgbClr val="F6F5EF"/>
                </a:solidFill>
              </a:rPr>
              <a:t>Scan deals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C69EF-0BE9-4D7B-89CC-F275D476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19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BB9"/>
                </a:solidFill>
              </a:defRPr>
            </a:pPr>
            <a:r>
              <a:rPr sz="1275">
                <a:solidFill>
                  <a:srgbClr val="A9BBB9"/>
                </a:solidFill>
              </a:rPr>
              <a:t>Three retailers</a:t>
            </a:r>
          </a:p>
          <a:p xmlns:a="http://schemas.openxmlformats.org/drawingml/2006/main">
            <a:pPr>
              <a:defRPr sz="1275">
                <a:solidFill>
                  <a:srgbClr val="A9BBB9"/>
                </a:solidFill>
              </a:defRPr>
            </a:pPr>
            <a:r>
              <a:rPr sz="1275">
                <a:solidFill>
                  <a:srgbClr val="A9BBB9"/>
                </a:solidFill>
              </a:rPr>
              <a:t>one normalized feed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BECC5-1E6F-44A1-9081-A96609E6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766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2E4D5"/>
                </a:solidFill>
              </a:defRPr>
            </a:pPr>
            <a:r>
              <a:rPr sz="2100" b="1">
                <a:solidFill>
                  <a:srgbClr val="72E4D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C454E-1D51-49A3-A0D3-09479DAF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14650"/>
            <a:ext cx="23622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B0800-C05A-4036-9476-6C83AEAD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7A59"/>
                </a:solidFill>
              </a:defRPr>
            </a:pPr>
            <a:r>
              <a:rPr sz="1050" b="1">
                <a:solidFill>
                  <a:srgbClr val="FF7A59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F0B53-C8EB-4DEE-94C8-A885A755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5EF"/>
                </a:solidFill>
              </a:defRPr>
            </a:pPr>
            <a:r>
              <a:rPr sz="1725" b="1">
                <a:solidFill>
                  <a:srgbClr val="F6F5EF"/>
                </a:solidFill>
              </a:rPr>
              <a:t>Save targets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D33497-0A99-46F2-B4EC-01EB8961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9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BB9"/>
                </a:solidFill>
              </a:defRPr>
            </a:pPr>
            <a:r>
              <a:rPr sz="1275">
                <a:solidFill>
                  <a:srgbClr val="A9BBB9"/>
                </a:solidFill>
              </a:rPr>
              <a:t>Watch a product</a:t>
            </a:r>
          </a:p>
          <a:p xmlns:a="http://schemas.openxmlformats.org/drawingml/2006/main">
            <a:pPr>
              <a:defRPr sz="1275">
                <a:solidFill>
                  <a:srgbClr val="A9BBB9"/>
                </a:solidFill>
              </a:defRPr>
            </a:pPr>
            <a:r>
              <a:rPr sz="1275">
                <a:solidFill>
                  <a:srgbClr val="A9BBB9"/>
                </a:solidFill>
              </a:rPr>
              <a:t>or category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094F9-BCC8-46D5-81BB-34AD4DE5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766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7A59"/>
                </a:solidFill>
              </a:defRPr>
            </a:pPr>
            <a:r>
              <a:rPr sz="2100" b="1">
                <a:solidFill>
                  <a:srgbClr val="FF7A59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14CCC-2B84-47F2-B9F9-D77A7C88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23622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6A1D8-FD9D-4A4E-AAC2-AF38E666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051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F34B"/>
                </a:solidFill>
              </a:defRPr>
            </a:pPr>
            <a:r>
              <a:rPr sz="1050" b="1">
                <a:solidFill>
                  <a:srgbClr val="B7F34B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8D0D6-5DC4-4B6F-9132-7D0C384B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62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5EF"/>
                </a:solidFill>
              </a:defRPr>
            </a:pPr>
            <a:r>
              <a:rPr sz="1725" b="1">
                <a:solidFill>
                  <a:srgbClr val="F6F5EF"/>
                </a:solidFill>
              </a:rPr>
              <a:t>Plan dinner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629E4-2914-4207-9B15-0989305B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19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BB9"/>
                </a:solidFill>
              </a:defRPr>
            </a:pPr>
            <a:r>
              <a:rPr sz="1275">
                <a:solidFill>
                  <a:srgbClr val="A9BBB9"/>
                </a:solidFill>
              </a:rPr>
              <a:t>Recipes use</a:t>
            </a:r>
          </a:p>
          <a:p xmlns:a="http://schemas.openxmlformats.org/drawingml/2006/main">
            <a:pPr>
              <a:defRPr sz="1275">
                <a:solidFill>
                  <a:srgbClr val="A9BBB9"/>
                </a:solidFill>
              </a:defRPr>
            </a:pPr>
            <a:r>
              <a:rPr sz="1275">
                <a:solidFill>
                  <a:srgbClr val="A9BBB9"/>
                </a:solidFill>
              </a:rPr>
              <a:t>discounts first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E7B3B2-3AA4-40D9-9B10-AC9C6E8D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F34B"/>
                </a:solidFill>
              </a:defRPr>
            </a:pPr>
            <a:r>
              <a:rPr sz="1200" b="1">
                <a:solidFill>
                  <a:srgbClr val="B7F34B"/>
                </a:solidFill>
              </a:rPr>
              <a:t>Guest-first by design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579DF5-2353-48A8-95AE-D2DBE403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4292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BB9"/>
                </a:solidFill>
              </a:defRPr>
            </a:pPr>
            <a:r>
              <a:rPr sz="1275">
                <a:solidFill>
                  <a:srgbClr val="A9BBB9"/>
                </a:solidFill>
              </a:rPr>
              <a:t>A signed, httpOnly session cookie keeps preferences, watchlists, timing runs, and alerts together — no password or account system in the MVP.</a:t>
            </a:r>
          </a:p>
        </p:txBody>
      </p:sp>
    </p:spTree>
    <p:extLst>
      <p:ext uri="{BB962C8B-B14F-4D97-AF65-F5344CB8AC3E}">
        <p14:creationId xmlns:p14="http://schemas.microsoft.com/office/powerpoint/2010/main" val="366286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4EABEE-F817-4603-8672-AA68432C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34B"/>
                </a:solidFill>
              </a:defRPr>
            </a:pPr>
            <a:r>
              <a:rPr sz="975" b="1">
                <a:solidFill>
                  <a:srgbClr val="B7F34B"/>
                </a:solidFill>
              </a:rPr>
              <a:t>DEALCHEF  /  ICON UNSW × LYRA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4995A-6F70-4BA9-A58B-7F9E8017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BB9"/>
                </a:solidFill>
              </a:defRPr>
            </a:pPr>
            <a:r>
              <a:rPr sz="900" b="1">
                <a:solidFill>
                  <a:srgbClr val="A9BBB9"/>
                </a:solidFill>
              </a:rPr>
              <a:t>LIVE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08516-3B40-4091-AEF2-E03108F4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4B6A2-0990-4704-B202-E868D7C6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BB9"/>
                </a:solidFill>
              </a:defRPr>
            </a:pPr>
            <a:r>
              <a:rPr sz="900" b="1">
                <a:solidFill>
                  <a:srgbClr val="A9BBB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9D659-A7A8-4494-9419-88DE7D46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6F5EF"/>
                </a:solidFill>
              </a:defRPr>
            </a:pPr>
            <a:r>
              <a:rPr sz="3000" b="1">
                <a:solidFill>
                  <a:srgbClr val="F6F5EF"/>
                </a:solidFill>
              </a:rPr>
              <a:t>Deals become decisions, not tabs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37737-B32F-4BBB-9691-15301EEF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BB9"/>
                </a:solidFill>
              </a:defRPr>
            </a:pPr>
            <a:r>
              <a:rPr sz="1575">
                <a:solidFill>
                  <a:srgbClr val="A9BBB9"/>
                </a:solidFill>
              </a:rPr>
              <a:t>The dashboard makes the evidence visible: price, baseline, source, and what dinner can follow.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54628-8C3F-4CCA-8A7F-AC2991F7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51435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6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C6344-2348-4D95-B502-F097E511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2028"/>
                </a:solidFill>
              </a:defRPr>
            </a:pPr>
            <a:r>
              <a:rPr sz="900" b="1">
                <a:solidFill>
                  <a:srgbClr val="0E2028"/>
                </a:solidFill>
              </a:rPr>
              <a:t>TODAY'S HALF-PRICE PICKS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A1714-867F-4271-9B1E-6A8BDE21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24175"/>
            <a:ext cx="1162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F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DBFD6-27DA-45EE-B285-54E52251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908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31B"/>
                </a:solidFill>
              </a:defRPr>
            </a:pPr>
            <a:r>
              <a:rPr sz="900" b="1">
                <a:solidFill>
                  <a:srgbClr val="07131B"/>
                </a:solidFill>
              </a:rPr>
              <a:t>3 RETAILERS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313FC-3B1B-46DA-B98F-DB3B04F8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464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EBE82-E895-49F8-BA1A-F98B533D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31B"/>
                </a:solidFill>
              </a:defRPr>
            </a:pPr>
            <a:r>
              <a:rPr sz="1350" b="1">
                <a:solidFill>
                  <a:srgbClr val="07131B"/>
                </a:solidFill>
              </a:rPr>
              <a:t>Chicken breast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24E13-1ABC-4FA0-BD7A-837E5449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2095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A7A78"/>
                </a:solidFill>
              </a:defRPr>
            </a:pPr>
            <a:r>
              <a:rPr sz="900">
                <a:solidFill>
                  <a:srgbClr val="6A7A78"/>
                </a:solidFill>
              </a:rPr>
              <a:t>Coles  ·  1 kg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3A3A9-D42A-44B3-883D-EBD2DB21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575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7131B"/>
                </a:solidFill>
              </a:defRPr>
            </a:pPr>
            <a:r>
              <a:rPr sz="1425" b="1">
                <a:solidFill>
                  <a:srgbClr val="07131B"/>
                </a:solidFill>
              </a:rPr>
              <a:t>$9.00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82D22-4A5F-4083-9E10-4D048CB0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19475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414D6-2396-4939-8212-88AE0BA7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31B"/>
                </a:solidFill>
              </a:defRPr>
            </a:pPr>
            <a:r>
              <a:rPr sz="900" b="1">
                <a:solidFill>
                  <a:srgbClr val="07131B"/>
                </a:solidFill>
              </a:rPr>
              <a:t>50%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C34DB-235C-44FC-A737-663FADA6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64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1D206-3FCB-4516-A860-F172264B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31B"/>
                </a:solidFill>
              </a:defRPr>
            </a:pPr>
            <a:r>
              <a:rPr sz="1350" b="1">
                <a:solidFill>
                  <a:srgbClr val="07131B"/>
                </a:solidFill>
              </a:rPr>
              <a:t>Greek yoghurt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3D0D1-F0F2-43E1-A9FD-2D49F248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2095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A7A78"/>
                </a:solidFill>
              </a:defRPr>
            </a:pPr>
            <a:r>
              <a:rPr sz="900">
                <a:solidFill>
                  <a:srgbClr val="6A7A78"/>
                </a:solidFill>
              </a:rPr>
              <a:t>Woolworths  ·  1 kg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A6F4C3-6624-4F08-A6B7-62E37995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481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7131B"/>
                </a:solidFill>
              </a:defRPr>
            </a:pPr>
            <a:r>
              <a:rPr sz="1425" b="1">
                <a:solidFill>
                  <a:srgbClr val="07131B"/>
                </a:solidFill>
              </a:rPr>
              <a:t>$3.50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06EEE-98C2-4013-A92E-D473194C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0025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2E4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02E20-C70C-4AC5-A8E8-00F77FF2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767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31B"/>
                </a:solidFill>
              </a:defRPr>
            </a:pPr>
            <a:r>
              <a:rPr sz="900" b="1">
                <a:solidFill>
                  <a:srgbClr val="07131B"/>
                </a:solidFill>
              </a:rPr>
              <a:t>50%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9345E-D101-4969-A4A1-1209A021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464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9E5FE7-6B27-4BBE-B1D5-7FCE5F18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31B"/>
                </a:solidFill>
              </a:defRPr>
            </a:pPr>
            <a:r>
              <a:rPr sz="1350" b="1">
                <a:solidFill>
                  <a:srgbClr val="07131B"/>
                </a:solidFill>
              </a:rPr>
              <a:t>Baby spinach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339689-50E7-4741-8092-4DAF25E2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2095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A7A78"/>
                </a:solidFill>
              </a:defRPr>
            </a:pPr>
            <a:r>
              <a:rPr sz="900">
                <a:solidFill>
                  <a:srgbClr val="6A7A78"/>
                </a:solidFill>
              </a:rPr>
              <a:t>ALDI  ·  120 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3EA066-E4C7-4043-8DA2-4276F100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386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7131B"/>
                </a:solidFill>
              </a:defRPr>
            </a:pPr>
            <a:r>
              <a:rPr sz="1425" b="1">
                <a:solidFill>
                  <a:srgbClr val="07131B"/>
                </a:solidFill>
              </a:rPr>
              <a:t>$1.25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892505-3C28-4EFC-9FD1-12637266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F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573752-76F3-43AD-996C-6145F946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672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31B"/>
                </a:solidFill>
              </a:defRPr>
            </a:pPr>
            <a:r>
              <a:rPr sz="900" b="1">
                <a:solidFill>
                  <a:srgbClr val="07131B"/>
                </a:solidFill>
              </a:rPr>
              <a:t>50%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7932B7-5DDA-4551-82EC-5CBF499D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49911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142E4D-1580-466D-86C4-69A36CAA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2E4D5"/>
                </a:solidFill>
              </a:defRPr>
            </a:pPr>
            <a:r>
              <a:rPr sz="900" b="1">
                <a:solidFill>
                  <a:srgbClr val="72E4D5"/>
                </a:solidFill>
              </a:rPr>
              <a:t>DINNER PATH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95BFE4-6D27-4AB4-B9E1-90E5B3E7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6F5EF"/>
                </a:solidFill>
              </a:defRPr>
            </a:pPr>
            <a:r>
              <a:rPr sz="2325" b="1">
                <a:solidFill>
                  <a:srgbClr val="F6F5EF"/>
                </a:solidFill>
              </a:rPr>
              <a:t>Creamy chicken</a:t>
            </a:r>
          </a:p>
          <a:p xmlns:a="http://schemas.openxmlformats.org/drawingml/2006/main">
            <a:pPr>
              <a:defRPr sz="2325" b="1">
                <a:solidFill>
                  <a:srgbClr val="F6F5EF"/>
                </a:solidFill>
              </a:defRPr>
            </a:pPr>
            <a:r>
              <a:rPr sz="2325" b="1">
                <a:solidFill>
                  <a:srgbClr val="F6F5EF"/>
                </a:solidFill>
              </a:rPr>
              <a:t>spinach pasta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A87345-D465-4DDB-979B-32F2B40A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434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F34B"/>
                </a:solidFill>
              </a:defRPr>
            </a:pPr>
            <a:r>
              <a:rPr sz="1275" b="1">
                <a:solidFill>
                  <a:srgbClr val="B7F34B"/>
                </a:solidFill>
              </a:rPr>
              <a:t>Uses 3 discounted ingredients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850B31-5343-48B1-9275-144A2968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053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9BBB9"/>
                </a:solidFill>
              </a:defRPr>
            </a:pPr>
            <a:r>
              <a:rPr sz="1125">
                <a:solidFill>
                  <a:srgbClr val="A9BBB9"/>
                </a:solidFill>
              </a:rPr>
              <a:t>Pantry pasta  ·  25 min  ·  4 servings</a:t>
            </a:r>
          </a:p>
          <a:p xmlns:a="http://schemas.openxmlformats.org/drawingml/2006/main">
            <a:pPr>
              <a:defRPr sz="1125">
                <a:solidFill>
                  <a:srgbClr val="A9BBB9"/>
                </a:solidFill>
              </a:defRPr>
            </a:pPr>
            <a:r>
              <a:rPr sz="1125">
                <a:solidFill>
                  <a:srgbClr val="A9BBB9"/>
                </a:solidFill>
              </a:rPr>
              <a:t>Missing: parmesan  ·  Estimated add-on: $2.80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1FFB18-33D4-4F8F-9A61-4EBEF023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D046A7-DDC6-47CC-8E45-D3DFC6D2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863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31B"/>
                </a:solidFill>
              </a:defRPr>
            </a:pPr>
            <a:r>
              <a:rPr sz="900" b="1">
                <a:solidFill>
                  <a:srgbClr val="07131B"/>
                </a:solidFill>
              </a:rPr>
              <a:t>SAVE TO WATCHLIST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8A130F-DFF0-4F68-BCAB-B55A4028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19700"/>
            <a:ext cx="1162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F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71C7F5-A630-49BF-956C-80256F4D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863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31B"/>
                </a:solidFill>
              </a:defRPr>
            </a:pPr>
            <a:r>
              <a:rPr sz="900" b="1">
                <a:solidFill>
                  <a:srgbClr val="07131B"/>
                </a:solidFill>
              </a:rPr>
              <a:t>EMAIL ME</a:t>
            </a:r>
          </a:p>
        </p:txBody>
      </p:sp>
    </p:spTree>
    <p:extLst>
      <p:ext uri="{BB962C8B-B14F-4D97-AF65-F5344CB8AC3E}">
        <p14:creationId xmlns:p14="http://schemas.microsoft.com/office/powerpoint/2010/main" val="1456857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CBCBDB-BFC8-4A84-82B3-66E534EA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34B"/>
                </a:solidFill>
              </a:defRPr>
            </a:pPr>
            <a:r>
              <a:rPr sz="975" b="1">
                <a:solidFill>
                  <a:srgbClr val="B7F34B"/>
                </a:solidFill>
              </a:rPr>
              <a:t>DEALCHEF  /  ICON UNSW × LYRA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2A2D8-3741-464F-B76D-6491526E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BB9"/>
                </a:solidFill>
              </a:defRPr>
            </a:pPr>
            <a:r>
              <a:rPr sz="900" b="1">
                <a:solidFill>
                  <a:srgbClr val="A9BBB9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63585-DF06-4425-9732-A2620153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D9CAA-6617-4F7F-B0BB-8772F3B1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BB9"/>
                </a:solidFill>
              </a:defRPr>
            </a:pPr>
            <a:r>
              <a:rPr sz="900" b="1">
                <a:solidFill>
                  <a:srgbClr val="A9BBB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35C5C-5117-4CBE-9DCC-B371887B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6F5EF"/>
                </a:solidFill>
              </a:defRPr>
            </a:pPr>
            <a:r>
              <a:rPr sz="3000" b="1">
                <a:solidFill>
                  <a:srgbClr val="F6F5EF"/>
                </a:solidFill>
              </a:rPr>
              <a:t>A single-origin app keeps the loop simple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CBBC3-1D23-4E56-9F9F-808D7CE4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BB9"/>
                </a:solidFill>
              </a:defRPr>
            </a:pPr>
            <a:r>
              <a:rPr sz="1575">
                <a:solidFill>
                  <a:srgbClr val="A9BBB9"/>
                </a:solidFill>
              </a:rPr>
              <a:t>One Next.js runtime serves the UI, APIs, session cookie, and ingestion controls.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67FFC-A519-4615-8B09-F4857E61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2133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F18A9-DE4C-4126-8725-D2530C93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DA142-4FDC-4F81-8D2C-79E9BAEC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5EF"/>
                </a:solidFill>
              </a:defRPr>
            </a:pPr>
            <a:r>
              <a:rPr sz="1350" b="1">
                <a:solidFill>
                  <a:srgbClr val="F6F5EF"/>
                </a:solidFill>
              </a:rPr>
              <a:t>Browser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BFC81-F1DF-4D5C-AAD4-AE96071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BB9"/>
                </a:solidFill>
              </a:defRPr>
            </a:pPr>
            <a:r>
              <a:rPr sz="1050">
                <a:solidFill>
                  <a:srgbClr val="A9BBB9"/>
                </a:solidFill>
              </a:rPr>
              <a:t>Responsive dashboard</a:t>
            </a:r>
          </a:p>
          <a:p xmlns:a="http://schemas.openxmlformats.org/drawingml/2006/main">
            <a:pPr>
              <a:defRPr sz="1050">
                <a:solidFill>
                  <a:srgbClr val="A9BBB9"/>
                </a:solidFill>
              </a:defRPr>
            </a:pPr>
            <a:r>
              <a:rPr sz="1050">
                <a:solidFill>
                  <a:srgbClr val="A9BBB9"/>
                </a:solidFill>
              </a:rPr>
              <a:t>+PWA manifest + service worker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3730C-8736-4521-8215-1859964C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147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F34B"/>
                </a:solidFill>
              </a:defRPr>
            </a:pPr>
            <a:r>
              <a:rPr sz="2250" b="1">
                <a:solidFill>
                  <a:srgbClr val="B7F34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7826E-35E2-4D39-8375-003C5DDA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2381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05FB6-4044-4501-8073-FBDB6D45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4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D9EF8-4D76-4AF8-A65A-CC7C9C24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5EF"/>
                </a:solidFill>
              </a:defRPr>
            </a:pPr>
            <a:r>
              <a:rPr sz="1350" b="1">
                <a:solidFill>
                  <a:srgbClr val="F6F5EF"/>
                </a:solidFill>
              </a:rPr>
              <a:t>Next.js route handlers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5DF1B-031E-4630-94CF-A682C16A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671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BB9"/>
                </a:solidFill>
              </a:defRPr>
            </a:pPr>
            <a:r>
              <a:rPr sz="1050">
                <a:solidFill>
                  <a:srgbClr val="A9BBB9"/>
                </a:solidFill>
              </a:rPr>
              <a:t>Session, deals, watchlist,</a:t>
            </a:r>
          </a:p>
          <a:p xmlns:a="http://schemas.openxmlformats.org/drawingml/2006/main">
            <a:pPr>
              <a:defRPr sz="1050">
                <a:solidFill>
                  <a:srgbClr val="A9BBB9"/>
                </a:solidFill>
              </a:defRPr>
            </a:pPr>
            <a:r>
              <a:rPr sz="1050">
                <a:solidFill>
                  <a:srgbClr val="A9BBB9"/>
                </a:solidFill>
              </a:rPr>
              <a:t>recipes, notifications, refresh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22656-BB11-45BA-BD5D-595848C3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147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2E4D5"/>
                </a:solidFill>
              </a:defRPr>
            </a:pPr>
            <a:r>
              <a:rPr sz="2250" b="1">
                <a:solidFill>
                  <a:srgbClr val="72E4D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DB4F2-B95F-497B-89C0-C4BF392F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22479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10932-743A-4BBB-830F-89775E00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CAFA2-DD81-4873-9F13-09E868FA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479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5EF"/>
                </a:solidFill>
              </a:defRPr>
            </a:pPr>
            <a:r>
              <a:rPr sz="1350" b="1">
                <a:solidFill>
                  <a:srgbClr val="F6F5EF"/>
                </a:solidFill>
              </a:rPr>
              <a:t>D1 + Drizzle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04B9A-15E5-4402-B9F7-FF03632F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BB9"/>
                </a:solidFill>
              </a:defRPr>
            </a:pPr>
            <a:r>
              <a:rPr sz="1050">
                <a:solidFill>
                  <a:srgbClr val="A9BBB9"/>
                </a:solidFill>
              </a:rPr>
              <a:t>Durable schema for 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B9A19-9245-4C6E-89AF-327DED7A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22479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8AE17E-8941-4934-8A84-7D20275A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C4628A-2FA1-40F1-9CEB-F86887CF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243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5EF"/>
                </a:solidFill>
              </a:defRPr>
            </a:pPr>
            <a:r>
              <a:rPr sz="1350" b="1">
                <a:solidFill>
                  <a:srgbClr val="F6F5EF"/>
                </a:solidFill>
              </a:rPr>
              <a:t>Fixture store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292BE7-8A99-45E1-9C01-6BABE962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815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BB9"/>
                </a:solidFill>
              </a:defRPr>
            </a:pPr>
            <a:r>
              <a:rPr sz="1050">
                <a:solidFill>
                  <a:srgbClr val="A9BBB9"/>
                </a:solidFill>
              </a:rPr>
              <a:t>Full demo when keys/providers fail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A290E-DE82-4EEB-8F97-DD029D96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38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7A59"/>
                </a:solidFill>
              </a:defRPr>
            </a:pPr>
            <a:r>
              <a:rPr sz="2250" b="1">
                <a:solidFill>
                  <a:srgbClr val="FF7A59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9D43E-AD36-47F5-BF36-616EF004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76450"/>
            <a:ext cx="1676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FEAB82-C4A0-4179-828F-CA89A249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764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4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614D4C-0B7C-439F-846C-E08D83A2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5EF"/>
                </a:solidFill>
              </a:defRPr>
            </a:pPr>
            <a:r>
              <a:rPr sz="1350" b="1">
                <a:solidFill>
                  <a:srgbClr val="F6F5EF"/>
                </a:solidFill>
              </a:rPr>
              <a:t>Retailers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6781D-41EC-478F-B590-39BC298B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BB9"/>
                </a:solidFill>
              </a:defRPr>
            </a:pPr>
            <a:r>
              <a:rPr sz="1050">
                <a:solidFill>
                  <a:srgbClr val="A9BBB9"/>
                </a:solidFill>
              </a:rPr>
              <a:t>Coles</a:t>
            </a:r>
          </a:p>
          <a:p xmlns:a="http://schemas.openxmlformats.org/drawingml/2006/main">
            <a:pPr>
              <a:defRPr sz="1050">
                <a:solidFill>
                  <a:srgbClr val="A9BBB9"/>
                </a:solidFill>
              </a:defRPr>
            </a:pPr>
            <a:r>
              <a:rPr sz="1050">
                <a:solidFill>
                  <a:srgbClr val="A9BBB9"/>
                </a:solidFill>
              </a:rPr>
              <a:t>Woolworths</a:t>
            </a:r>
          </a:p>
          <a:p xmlns:a="http://schemas.openxmlformats.org/drawingml/2006/main">
            <a:pPr>
              <a:defRPr sz="1050">
                <a:solidFill>
                  <a:srgbClr val="A9BBB9"/>
                </a:solidFill>
              </a:defRPr>
            </a:pPr>
            <a:r>
              <a:rPr sz="1050">
                <a:solidFill>
                  <a:srgbClr val="A9BBB9"/>
                </a:solidFill>
              </a:rPr>
              <a:t>ALDI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B58FE6-E9AD-4D78-9F15-C8447631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1676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9BFD93-D62E-4327-922D-A22EF97E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2D105A-6D83-4548-80C5-64209369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5EF"/>
                </a:solidFill>
              </a:defRPr>
            </a:pPr>
            <a:r>
              <a:rPr sz="1350" b="1">
                <a:solidFill>
                  <a:srgbClr val="F6F5EF"/>
                </a:solidFill>
              </a:rPr>
              <a:t>Recipe API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251CA7-4889-417E-9D66-3063B2F7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814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BB9"/>
                </a:solidFill>
              </a:defRPr>
            </a:pPr>
            <a:r>
              <a:rPr sz="1050">
                <a:solidFill>
                  <a:srgbClr val="A9BBB9"/>
                </a:solidFill>
              </a:rPr>
              <a:t>Spoonacular</a:t>
            </a:r>
          </a:p>
          <a:p xmlns:a="http://schemas.openxmlformats.org/drawingml/2006/main">
            <a:pPr>
              <a:defRPr sz="1050">
                <a:solidFill>
                  <a:srgbClr val="A9BBB9"/>
                </a:solidFill>
              </a:defRPr>
            </a:pPr>
            <a:r>
              <a:rPr sz="1050">
                <a:solidFill>
                  <a:srgbClr val="A9BBB9"/>
                </a:solidFill>
              </a:rPr>
              <a:t>local fallback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477940-E14A-4971-B664-23DEC578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91050"/>
            <a:ext cx="1676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B892C0-B6DD-4DB6-B513-1BC0A202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910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46A117-AD85-42BF-A649-A7B560AA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815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5EF"/>
                </a:solidFill>
              </a:defRPr>
            </a:pPr>
            <a:r>
              <a:rPr sz="1350" b="1">
                <a:solidFill>
                  <a:srgbClr val="F6F5EF"/>
                </a:solidFill>
              </a:rPr>
              <a:t>Email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C88B17-8B19-40D4-89BD-621342BF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387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BB9"/>
                </a:solidFill>
              </a:defRPr>
            </a:pPr>
            <a:r>
              <a:rPr sz="1050">
                <a:solidFill>
                  <a:srgbClr val="A9BBB9"/>
                </a:solidFill>
              </a:rPr>
              <a:t>Resend</a:t>
            </a:r>
          </a:p>
          <a:p xmlns:a="http://schemas.openxmlformats.org/drawingml/2006/main">
            <a:pPr>
              <a:defRPr sz="1050">
                <a:solidFill>
                  <a:srgbClr val="A9BBB9"/>
                </a:solidFill>
              </a:defRPr>
            </a:pPr>
            <a:r>
              <a:rPr sz="1050">
                <a:solidFill>
                  <a:srgbClr val="A9BBB9"/>
                </a:solidFill>
              </a:rPr>
              <a:t>optional alerts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541508-67F4-4BC2-8822-0C4CDBF0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7A59"/>
                </a:solidFill>
              </a:defRPr>
            </a:pPr>
            <a:r>
              <a:rPr sz="1050" b="1">
                <a:solidFill>
                  <a:srgbClr val="FF7A59"/>
                </a:solidFill>
              </a:rPr>
              <a:t>Trust boundary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C1BBEC-0427-490F-A0FB-89BB9A4F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5300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9"/>
                </a:solidFill>
              </a:defRPr>
            </a:pPr>
            <a:r>
              <a:rPr sz="1200">
                <a:solidFill>
                  <a:srgbClr val="A9BBB9"/>
                </a:solidFill>
              </a:rPr>
              <a:t>Retailer feeds are unofficial third-party wrappers / actors; the UI labels source status and README documents freshness, quota, and terms limitations.</a:t>
            </a:r>
          </a:p>
        </p:txBody>
      </p:sp>
    </p:spTree>
    <p:extLst>
      <p:ext uri="{BB962C8B-B14F-4D97-AF65-F5344CB8AC3E}">
        <p14:creationId xmlns:p14="http://schemas.microsoft.com/office/powerpoint/2010/main" val="1740632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8DE413-C062-41E5-A940-289E541C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34B"/>
                </a:solidFill>
              </a:defRPr>
            </a:pPr>
            <a:r>
              <a:rPr sz="975" b="1">
                <a:solidFill>
                  <a:srgbClr val="B7F34B"/>
                </a:solidFill>
              </a:rPr>
              <a:t>DEALCHEF  /  ICON UNSW × LYRA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C9245-5B04-43BF-A9AB-49743404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BB9"/>
                </a:solidFill>
              </a:defRPr>
            </a:pPr>
            <a:r>
              <a:rPr sz="900" b="1">
                <a:solidFill>
                  <a:srgbClr val="A9BBB9"/>
                </a:solidFill>
              </a:rPr>
              <a:t>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14E83-7DB1-4E0B-BE1B-D38F7D06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48951-B29E-471F-8C13-4D4A3738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BB9"/>
                </a:solidFill>
              </a:defRPr>
            </a:pPr>
            <a:r>
              <a:rPr sz="900" b="1">
                <a:solidFill>
                  <a:srgbClr val="A9BBB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EEBD7-0B19-4D0A-9AFB-AF4D009F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6F5EF"/>
                </a:solidFill>
              </a:defRPr>
            </a:pPr>
            <a:r>
              <a:rPr sz="3000" b="1">
                <a:solidFill>
                  <a:srgbClr val="F6F5EF"/>
                </a:solidFill>
              </a:rPr>
              <a:t>The moment a watched item drops, dinner appears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CEC36-6241-4F8A-8370-604E6F89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BB9"/>
                </a:solidFill>
              </a:defRPr>
            </a:pPr>
            <a:r>
              <a:rPr sz="1575">
                <a:solidFill>
                  <a:srgbClr val="A9BBB9"/>
                </a:solidFill>
              </a:rPr>
              <a:t>DealChef closes the loop from price signal to action the household can actually take.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8064F-009B-428C-85F1-1DE3F4C8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312420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2277B-467C-4B9D-A7C9-ADF71E53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561CE-3268-4195-BE73-D9835391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31B"/>
                </a:solidFill>
              </a:defRPr>
            </a:pPr>
            <a:r>
              <a:rPr sz="1350" b="1">
                <a:solidFill>
                  <a:srgbClr val="07131B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F2771-9E93-4307-887C-F8ADC5E2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384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7F34B"/>
                </a:solidFill>
              </a:defRPr>
            </a:pPr>
            <a:r>
              <a:rPr sz="900" b="1">
                <a:solidFill>
                  <a:srgbClr val="B7F34B"/>
                </a:solidFill>
              </a:rPr>
              <a:t>WATCH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094F5-A541-4EB2-9EA8-206BF538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6F5EF"/>
                </a:solidFill>
              </a:defRPr>
            </a:pPr>
            <a:r>
              <a:rPr sz="1875" b="1">
                <a:solidFill>
                  <a:srgbClr val="F6F5EF"/>
                </a:solidFill>
              </a:rPr>
              <a:t>Chicken breast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00B7E-14BE-4E59-BEF3-626D6538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9"/>
                </a:solidFill>
              </a:defRPr>
            </a:pPr>
            <a:r>
              <a:rPr sz="1200">
                <a:solidFill>
                  <a:srgbClr val="A9BBB9"/>
                </a:solidFill>
              </a:rPr>
              <a:t>Track a product or category</a:t>
            </a:r>
          </a:p>
          <a:p xmlns:a="http://schemas.openxmlformats.org/drawingml/2006/main">
            <a:pPr>
              <a:defRPr sz="1200">
                <a:solidFill>
                  <a:srgbClr val="A9BBB9"/>
                </a:solidFill>
              </a:defRPr>
            </a:pPr>
            <a:r>
              <a:rPr sz="1200">
                <a:solidFill>
                  <a:srgbClr val="A9BBB9"/>
                </a:solidFill>
              </a:rPr>
              <a:t>with one click.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E62D2-E359-4C27-99A8-AA6E55D4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6480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7F34B"/>
                </a:solidFill>
              </a:defRPr>
            </a:pPr>
            <a:r>
              <a:rPr sz="2100" b="1">
                <a:solidFill>
                  <a:srgbClr val="B7F34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6FDA4-4F8E-4812-A81C-E785E95F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62250"/>
            <a:ext cx="312420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5E580-37CB-4E52-A2DC-641F5D0B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1C911-E818-47FC-B86E-55A64CA5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14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31B"/>
                </a:solidFill>
              </a:defRPr>
            </a:pPr>
            <a:r>
              <a:rPr sz="1350" b="1">
                <a:solidFill>
                  <a:srgbClr val="07131B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D2AC5-B7D9-4418-AAD0-987C0093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384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7A59"/>
                </a:solidFill>
              </a:defRPr>
            </a:pPr>
            <a:r>
              <a:rPr sz="900" b="1">
                <a:solidFill>
                  <a:srgbClr val="FF7A59"/>
                </a:solidFill>
              </a:rPr>
              <a:t>ALERT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1B3B1-0D84-48E1-B215-94CD4B48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95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6F5EF"/>
                </a:solidFill>
              </a:defRPr>
            </a:pPr>
            <a:r>
              <a:rPr sz="1875" b="1">
                <a:solidFill>
                  <a:srgbClr val="F6F5EF"/>
                </a:solidFill>
              </a:rPr>
              <a:t>50% verified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972CA-E4B1-4EA2-9140-3F0D0CE6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29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9"/>
                </a:solidFill>
              </a:defRPr>
            </a:pPr>
            <a:r>
              <a:rPr sz="1200">
                <a:solidFill>
                  <a:srgbClr val="A9BBB9"/>
                </a:solidFill>
              </a:rPr>
              <a:t>Resend email when the watched</a:t>
            </a:r>
          </a:p>
          <a:p xmlns:a="http://schemas.openxmlformats.org/drawingml/2006/main">
            <a:pPr>
              <a:defRPr sz="1200">
                <a:solidFill>
                  <a:srgbClr val="A9BBB9"/>
                </a:solidFill>
              </a:defRPr>
            </a:pPr>
            <a:r>
              <a:rPr sz="1200">
                <a:solidFill>
                  <a:srgbClr val="A9BBB9"/>
                </a:solidFill>
              </a:rPr>
              <a:t>item becomes half price.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5F754-7D81-4C34-9C1D-7475D202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6480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7A59"/>
                </a:solidFill>
              </a:defRPr>
            </a:pPr>
            <a:r>
              <a:rPr sz="2100" b="1">
                <a:solidFill>
                  <a:srgbClr val="FF7A59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CDA2F-8622-4391-A27C-DDA7CB7B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312420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D2D85-F467-4A2F-827B-8A601E14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4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B184E-63EC-4AB5-8CC8-E4E9E494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14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31B"/>
                </a:solidFill>
              </a:defRPr>
            </a:pPr>
            <a:r>
              <a:rPr sz="1350" b="1">
                <a:solidFill>
                  <a:srgbClr val="07131B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218640-3BE1-4691-B54E-ACF889DA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384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2E4D5"/>
                </a:solidFill>
              </a:defRPr>
            </a:pPr>
            <a:r>
              <a:rPr sz="900" b="1">
                <a:solidFill>
                  <a:srgbClr val="72E4D5"/>
                </a:solidFill>
              </a:rPr>
              <a:t>COOK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DB9BA-B790-43BD-A556-F0B8BB05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95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6F5EF"/>
                </a:solidFill>
              </a:defRPr>
            </a:pPr>
            <a:r>
              <a:rPr sz="1875" b="1">
                <a:solidFill>
                  <a:srgbClr val="F6F5EF"/>
                </a:solidFill>
              </a:rPr>
              <a:t>3 ingredients used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A63E2B-0125-4B0B-B4CC-615BF938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29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9"/>
                </a:solidFill>
              </a:defRPr>
            </a:pPr>
            <a:r>
              <a:rPr sz="1200">
                <a:solidFill>
                  <a:srgbClr val="A9BBB9"/>
                </a:solidFill>
              </a:rPr>
              <a:t>Spoonacular ranks recipes by</a:t>
            </a:r>
          </a:p>
          <a:p xmlns:a="http://schemas.openxmlformats.org/drawingml/2006/main">
            <a:pPr>
              <a:defRPr sz="1200">
                <a:solidFill>
                  <a:srgbClr val="A9BBB9"/>
                </a:solidFill>
              </a:defRPr>
            </a:pPr>
            <a:r>
              <a:rPr sz="1200">
                <a:solidFill>
                  <a:srgbClr val="A9BBB9"/>
                </a:solidFill>
              </a:rPr>
              <a:t>used, missing, and pantry items.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AE8AE6-35A2-4FF2-97FF-F179897F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4394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F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C8AD68-0C26-4146-AFF6-574D25B0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1005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31B"/>
                </a:solidFill>
              </a:defRPr>
            </a:pPr>
            <a:r>
              <a:rPr sz="975" b="1">
                <a:solidFill>
                  <a:srgbClr val="07131B"/>
                </a:solidFill>
              </a:rPr>
              <a:t>EMAIL IS THE MVP CHANNEL  ·  BROWSER PUSH IS DOCUMENTED AS A STRETCH GOAL</a:t>
            </a:r>
          </a:p>
        </p:txBody>
      </p:sp>
    </p:spTree>
    <p:extLst>
      <p:ext uri="{BB962C8B-B14F-4D97-AF65-F5344CB8AC3E}">
        <p14:creationId xmlns:p14="http://schemas.microsoft.com/office/powerpoint/2010/main" val="1928301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186FE4-E67B-444C-B4B2-A04B8CC0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34B"/>
                </a:solidFill>
              </a:defRPr>
            </a:pPr>
            <a:r>
              <a:rPr sz="975" b="1">
                <a:solidFill>
                  <a:srgbClr val="B7F34B"/>
                </a:solidFill>
              </a:rPr>
              <a:t>DEALCHEF  /  ICON UNSW × LYRA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A148E-78D6-4AB9-9243-E4FAB53B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BB9"/>
                </a:solidFill>
              </a:defRPr>
            </a:pPr>
            <a:r>
              <a:rPr sz="900" b="1">
                <a:solidFill>
                  <a:srgbClr val="A9BBB9"/>
                </a:solidFill>
              </a:rPr>
              <a:t>CHALLENGES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94969-F0CF-4AF9-8D06-F0C4C412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E7066-BFF4-443C-86CE-495C370F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BB9"/>
                </a:solidFill>
              </a:defRPr>
            </a:pPr>
            <a:r>
              <a:rPr sz="900" b="1">
                <a:solidFill>
                  <a:srgbClr val="A9BBB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12E80-CFEB-45D1-B1CA-BE1C02C8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6F5EF"/>
                </a:solidFill>
              </a:defRPr>
            </a:pPr>
            <a:r>
              <a:rPr sz="3000" b="1">
                <a:solidFill>
                  <a:srgbClr val="F6F5EF"/>
                </a:solidFill>
              </a:rPr>
              <a:t>The hardest parts are trust and graceful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46B4E-05CE-4B4E-B4DF-FAC1C3E1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BB9"/>
                </a:solidFill>
              </a:defRPr>
            </a:pPr>
            <a:r>
              <a:rPr sz="1575">
                <a:solidFill>
                  <a:srgbClr val="A9BBB9"/>
                </a:solidFill>
              </a:rPr>
              <a:t>The product is useful only when it knows what it can prove — and keeps working when a provider does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AEE9C-07D4-43D9-B601-E5956EE5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B9"/>
                </a:solidFill>
              </a:defRPr>
            </a:pPr>
            <a:r>
              <a:rPr sz="825" b="1">
                <a:solidFill>
                  <a:srgbClr val="A9BBB9"/>
                </a:solidFill>
              </a:rPr>
              <a:t>RETAILER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7C841-C8A0-40C8-8AC1-3949AEC0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7A59"/>
                </a:solidFill>
              </a:defRPr>
            </a:pPr>
            <a:r>
              <a:rPr sz="1650" b="1">
                <a:solidFill>
                  <a:srgbClr val="FF7A59"/>
                </a:solidFill>
              </a:rPr>
              <a:t>Unofficial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73289-CDD9-4D29-A96E-2986DBBF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9"/>
                </a:solidFill>
              </a:defRPr>
            </a:pPr>
            <a:r>
              <a:rPr sz="1200">
                <a:solidFill>
                  <a:srgbClr val="A9BBB9"/>
                </a:solidFill>
              </a:rPr>
              <a:t>Independent wrappers and an ALDI data actor can be delayed, incomplete, or unavailable. Source status is visible and fixtures keep the demo usable.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D0A91-3BB0-4F3A-BEFF-E18B1CF6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3A63D-BD5A-4760-ACCE-7BFFDBA1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956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B9"/>
                </a:solidFill>
              </a:defRPr>
            </a:pPr>
            <a:r>
              <a:rPr sz="825" b="1">
                <a:solidFill>
                  <a:srgbClr val="A9BBB9"/>
                </a:solidFill>
              </a:rPr>
              <a:t>PRICE TRUTH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434B6-C9ED-4B1E-AED5-92C88027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24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7F34B"/>
                </a:solidFill>
              </a:defRPr>
            </a:pPr>
            <a:r>
              <a:rPr sz="1650" b="1">
                <a:solidFill>
                  <a:srgbClr val="B7F34B"/>
                </a:solidFill>
              </a:rPr>
              <a:t>Verified 50%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AFDFC-BBD8-42BB-946E-00BA24B8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7665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9"/>
                </a:solidFill>
              </a:defRPr>
            </a:pPr>
            <a:r>
              <a:rPr sz="1200">
                <a:solidFill>
                  <a:srgbClr val="A9BBB9"/>
                </a:solidFill>
              </a:rPr>
              <a:t>Use a current valid was_price first; otherwise require 3 separate observations in 28 days before using the historical median.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BBB7E-806E-4019-B3AC-66EED732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EA74C-C8D9-46E1-9300-A5F3BA29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956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B9"/>
                </a:solidFill>
              </a:defRPr>
            </a:pPr>
            <a:r>
              <a:rPr sz="825" b="1">
                <a:solidFill>
                  <a:srgbClr val="A9BBB9"/>
                </a:solidFill>
              </a:rPr>
              <a:t>ABUSE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5C955C-E716-487B-80AD-75C3BD6D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24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2E4D5"/>
                </a:solidFill>
              </a:defRPr>
            </a:pPr>
            <a:r>
              <a:rPr sz="1650" b="1">
                <a:solidFill>
                  <a:srgbClr val="72E4D5"/>
                </a:solidFill>
              </a:rPr>
              <a:t>60-second 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95B7B-B514-4C6D-8591-3823AF71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7665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9"/>
                </a:solidFill>
              </a:defRPr>
            </a:pPr>
            <a:r>
              <a:rPr sz="1200">
                <a:solidFill>
                  <a:srgbClr val="A9BBB9"/>
                </a:solidFill>
              </a:rPr>
              <a:t>Refresh is rate-limited per guest session and duplicate provider jobs are coalesced, protecting both the demo and third-party sources.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3BD88-2E5B-46C3-AEC8-DE6CD342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10439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38474E-8BB7-43E3-9321-0D00E037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34B"/>
                </a:solidFill>
              </a:defRPr>
            </a:pPr>
            <a:r>
              <a:rPr sz="975" b="1">
                <a:solidFill>
                  <a:srgbClr val="B7F34B"/>
                </a:solidFill>
              </a:rPr>
              <a:t>DEMO 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AC244-055C-442E-80C6-931E673E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29250"/>
            <a:ext cx="851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6F5EF"/>
                </a:solidFill>
              </a:defRPr>
            </a:pPr>
            <a:r>
              <a:rPr sz="1125">
                <a:solidFill>
                  <a:srgbClr val="F6F5EF"/>
                </a:solidFill>
              </a:rPr>
              <a:t>External keys are optional: fixture deals and local recipes cover the full onboarding → deals → watchlist → recipe → alert story.</a:t>
            </a:r>
          </a:p>
        </p:txBody>
      </p:sp>
    </p:spTree>
    <p:extLst>
      <p:ext uri="{BB962C8B-B14F-4D97-AF65-F5344CB8AC3E}">
        <p14:creationId xmlns:p14="http://schemas.microsoft.com/office/powerpoint/2010/main" val="6193368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4C3F30-E237-4B6A-A6BD-6E8515A9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34B"/>
                </a:solidFill>
              </a:defRPr>
            </a:pPr>
            <a:r>
              <a:rPr sz="975" b="1">
                <a:solidFill>
                  <a:srgbClr val="B7F34B"/>
                </a:solidFill>
              </a:rPr>
              <a:t>DEALCHEF  /  ICON UNSW × LYRA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A0831-EAA7-4FAE-9BB0-D149F6CC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BB9"/>
                </a:solidFill>
              </a:defRPr>
            </a:pPr>
            <a:r>
              <a:rPr sz="900" b="1">
                <a:solidFill>
                  <a:srgbClr val="A9BBB9"/>
                </a:solidFill>
              </a:rPr>
              <a:t>MEASUREMENT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8D4A6-3F62-41AF-B54A-203D68A1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49D76-259D-422D-B618-D25327BA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BB9"/>
                </a:solidFill>
              </a:defRPr>
            </a:pPr>
            <a:r>
              <a:rPr sz="900" b="1">
                <a:solidFill>
                  <a:srgbClr val="A9BBB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943CD-E2C4-4B35-929B-585EA905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6F5EF"/>
                </a:solidFill>
              </a:defRPr>
            </a:pPr>
            <a:r>
              <a:rPr sz="3000" b="1">
                <a:solidFill>
                  <a:srgbClr val="F6F5EF"/>
                </a:solidFill>
              </a:rPr>
              <a:t>The benchmark is reproducible by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AF879-4761-48D0-A919-CB74E29C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BB9"/>
                </a:solidFill>
              </a:defRPr>
            </a:pPr>
            <a:r>
              <a:rPr sz="1575">
                <a:solidFill>
                  <a:srgbClr val="A9BBB9"/>
                </a:solidFill>
              </a:rPr>
              <a:t>No final number is shown until the same task has been timed three times in both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3BE0C-FE7B-4480-B5D5-E1C183EB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44958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E2028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B9639-2C40-4DF2-99BA-098559AB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7F34B"/>
                </a:solidFill>
              </a:defRPr>
            </a:pPr>
            <a:r>
              <a:rPr sz="900" b="1">
                <a:solidFill>
                  <a:srgbClr val="B7F34B"/>
                </a:solidFill>
              </a:rPr>
              <a:t>FIXED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4FE35-D9EF-4970-8CCD-F482557E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F5EF"/>
                </a:solidFill>
              </a:defRPr>
            </a:pPr>
            <a:r>
              <a:rPr sz="1575" b="1">
                <a:solidFill>
                  <a:srgbClr val="F6F5EF"/>
                </a:solidFill>
              </a:rPr>
              <a:t>Find five half-price products</a:t>
            </a:r>
          </a:p>
          <a:p xmlns:a="http://schemas.openxmlformats.org/drawingml/2006/main">
            <a:pPr>
              <a:defRPr sz="1575" b="1">
                <a:solidFill>
                  <a:srgbClr val="F6F5EF"/>
                </a:solidFill>
              </a:defRPr>
            </a:pPr>
            <a:r>
              <a:rPr sz="1575" b="1">
                <a:solidFill>
                  <a:srgbClr val="F6F5EF"/>
                </a:solidFill>
              </a:rPr>
              <a:t>across three retailers, save two,</a:t>
            </a:r>
          </a:p>
          <a:p xmlns:a="http://schemas.openxmlformats.org/drawingml/2006/main">
            <a:pPr>
              <a:defRPr sz="1575" b="1">
                <a:solidFill>
                  <a:srgbClr val="F6F5EF"/>
                </a:solidFill>
              </a:defRPr>
            </a:pPr>
            <a:r>
              <a:rPr sz="1575" b="1">
                <a:solidFill>
                  <a:srgbClr val="F6F5EF"/>
                </a:solidFill>
              </a:rPr>
              <a:t>then find one recipe using three</a:t>
            </a:r>
          </a:p>
          <a:p xmlns:a="http://schemas.openxmlformats.org/drawingml/2006/main">
            <a:pPr>
              <a:defRPr sz="1575" b="1">
                <a:solidFill>
                  <a:srgbClr val="F6F5EF"/>
                </a:solidFill>
              </a:defRPr>
            </a:pPr>
            <a:r>
              <a:rPr sz="1575" b="1">
                <a:solidFill>
                  <a:srgbClr val="F6F5EF"/>
                </a:solidFill>
              </a:rPr>
              <a:t>available ingredients.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F2807-77A1-41A8-9414-0932EEB4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9BBB9"/>
                </a:solidFill>
              </a:defRPr>
            </a:pPr>
            <a:r>
              <a:rPr sz="1125">
                <a:solidFill>
                  <a:srgbClr val="A9BBB9"/>
                </a:solidFill>
              </a:rPr>
              <a:t>Manual workflow  vs  DealChef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6062C-ACB3-47E3-99AD-B92BE2E8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67000"/>
            <a:ext cx="5715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6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9C185-F983-4A1D-98C5-7EA158D3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33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2028"/>
                </a:solidFill>
              </a:defRPr>
            </a:pPr>
            <a:r>
              <a:rPr sz="900" b="1">
                <a:solidFill>
                  <a:srgbClr val="0E2028"/>
                </a:solidFill>
              </a:rPr>
              <a:t>AVERAGE OF 3 TIMED 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5F4BC-0E72-4292-8184-A86B0313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956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461"/>
                </a:solidFill>
              </a:defRPr>
            </a:pPr>
            <a:r>
              <a:rPr sz="1050">
                <a:solidFill>
                  <a:srgbClr val="506461"/>
                </a:solidFill>
              </a:rPr>
              <a:t>Manual  ·  Run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9C65D-EFE1-4192-A638-3721BAD5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81375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91866-1A62-4B6D-B1A9-6DC8BED3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295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06461"/>
                </a:solidFill>
              </a:defRPr>
            </a:pPr>
            <a:r>
              <a:rPr sz="1200" b="1">
                <a:solidFill>
                  <a:srgbClr val="506461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28748-3009-449C-9AE3-E4F23738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62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461"/>
                </a:solidFill>
              </a:defRPr>
            </a:pPr>
            <a:r>
              <a:rPr sz="1050">
                <a:solidFill>
                  <a:srgbClr val="506461"/>
                </a:solidFill>
              </a:rPr>
              <a:t>Manual  ·  Run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25FB4-83EA-4ED1-ADFC-38DAD7F1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48075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6E4C1-E616-4E25-A7B7-A11E1CF7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562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06461"/>
                </a:solidFill>
              </a:defRPr>
            </a:pPr>
            <a:r>
              <a:rPr sz="1200" b="1">
                <a:solidFill>
                  <a:srgbClr val="506461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81F95A-5B24-4E71-852E-0B56239B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29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461"/>
                </a:solidFill>
              </a:defRPr>
            </a:pPr>
            <a:r>
              <a:rPr sz="1050">
                <a:solidFill>
                  <a:srgbClr val="506461"/>
                </a:solidFill>
              </a:rPr>
              <a:t>Manual  ·  Run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7EA5C-CBF0-421F-9913-5B825522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14775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7B494-0112-4F46-8966-D126E97F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829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06461"/>
                </a:solidFill>
              </a:defRPr>
            </a:pPr>
            <a:r>
              <a:rPr sz="1200" b="1">
                <a:solidFill>
                  <a:srgbClr val="506461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9F0CE-80E4-4A1D-AC92-3C62553F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461"/>
                </a:solidFill>
              </a:defRPr>
            </a:pPr>
            <a:r>
              <a:rPr sz="1050">
                <a:solidFill>
                  <a:srgbClr val="506461"/>
                </a:solidFill>
              </a:rPr>
              <a:t>DealChef  ·  Run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BAC41-3F75-48DD-ADE2-21972C0C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81475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DB31A-9D3B-4192-88AE-693B088E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095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06461"/>
                </a:solidFill>
              </a:defRPr>
            </a:pPr>
            <a:r>
              <a:rPr sz="1200" b="1">
                <a:solidFill>
                  <a:srgbClr val="506461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B1D469-5D84-4A7C-AF92-AC5B5C05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62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461"/>
                </a:solidFill>
              </a:defRPr>
            </a:pPr>
            <a:r>
              <a:rPr sz="1050">
                <a:solidFill>
                  <a:srgbClr val="506461"/>
                </a:solidFill>
              </a:rPr>
              <a:t>DealChef  ·  Run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4FDC7B-4AC8-4085-AEF9-6A1BE1A5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48175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0AEDF-5485-4C63-8861-CF999405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624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06461"/>
                </a:solidFill>
              </a:defRPr>
            </a:pPr>
            <a:r>
              <a:rPr sz="1200" b="1">
                <a:solidFill>
                  <a:srgbClr val="506461"/>
                </a:solidFill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8F5A46-D955-4844-9CC1-FEFD4119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461"/>
                </a:solidFill>
              </a:defRPr>
            </a:pPr>
            <a:r>
              <a:rPr sz="1050">
                <a:solidFill>
                  <a:srgbClr val="506461"/>
                </a:solidFill>
              </a:rPr>
              <a:t>DealChef  ·  Run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CF751A-C5D9-45BF-A3F0-C865F04B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14875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B6EB9A-A2F6-4D4C-A9A5-1A27F3B4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629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06461"/>
                </a:solidFill>
              </a:defRPr>
            </a:pPr>
            <a:r>
              <a:rPr sz="1200" b="1">
                <a:solidFill>
                  <a:srgbClr val="506461"/>
                </a:solidFill>
              </a:rPr>
              <a:t>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0CE3E3-3553-4E59-9F9C-5C918B4B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10150"/>
            <a:ext cx="4819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374FA9-AC34-4C49-B582-ECB88A66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1244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A59"/>
                </a:solidFill>
              </a:defRPr>
            </a:pPr>
            <a:r>
              <a:rPr sz="1125" b="1">
                <a:solidFill>
                  <a:srgbClr val="FF7A59"/>
                </a:solidFill>
              </a:rPr>
              <a:t>Live result appears after all 3 runs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30F78D-62BD-471C-A873-94084B1F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BB9"/>
                </a:solidFill>
              </a:defRPr>
            </a:pPr>
            <a:r>
              <a:rPr sz="1350">
                <a:solidFill>
                  <a:srgbClr val="A9BBB9"/>
                </a:solidFill>
              </a:rPr>
              <a:t>The shipped Timing Lab records raw runs, averages, minutes saved, and percentage reduction — ready for the demo video.</a:t>
            </a:r>
          </a:p>
        </p:txBody>
      </p:sp>
    </p:spTree>
    <p:extLst>
      <p:ext uri="{BB962C8B-B14F-4D97-AF65-F5344CB8AC3E}">
        <p14:creationId xmlns:p14="http://schemas.microsoft.com/office/powerpoint/2010/main" val="1607811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2026-07-22T12:16:11.6360000Z</dcterms:created>
  <dcterms:modified xsi:type="dcterms:W3CDTF">2026-07-22T12:16:11.6360000Z</dcterms:modified>
</coreProperties>
</file>